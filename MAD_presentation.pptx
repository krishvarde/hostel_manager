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BEAFE"/>
                </a:solidFill>
                <a:latin typeface="Calibri"/>
              </a:defRPr>
            </a:pPr>
            <a:r>
              <a:t>A. D. PATEL INSTITUTE OF TECHNOLOGY (ADIT)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Department of Information Technology  |  Constituent College of CVM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HOSTEL MANAGER</a:t>
            </a:r>
          </a:p>
          <a:p>
            <a:pPr>
              <a:spcAft>
                <a:spcPts val="600"/>
              </a:spcAft>
              <a:defRPr sz="2000" b="1">
                <a:solidFill>
                  <a:srgbClr val="93C5FD"/>
                </a:solidFill>
                <a:latin typeface="Calibri"/>
              </a:defRPr>
            </a:pPr>
            <a:r>
              <a:t>Automated Resident &amp; Administrative Mobile Application</a:t>
            </a:r>
          </a:p>
          <a:p>
            <a:pPr>
              <a:defRPr sz="1400">
                <a:solidFill>
                  <a:srgbClr val="E2E8F0"/>
                </a:solidFill>
                <a:latin typeface="Calibri"/>
              </a:defRPr>
            </a:pPr>
            <a:r>
              <a:t>Course: Mobile Application Development (102000701)  |  Class: IT1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8655" cy="2834640"/>
          </a:xfrm>
          <a:prstGeom prst="roundRect">
            <a:avLst/>
          </a:prstGeom>
          <a:solidFill>
            <a:srgbClr val="172A4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Calibri"/>
              </a:defRPr>
            </a:pPr>
            <a:r>
              <a:t>PROJECT TEAM (4 MEMBERS)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4937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Jay Chaudhary (12302080601041)</a:t>
            </a:r>
          </a:p>
          <a:p>
            <a:pPr>
              <a:defRPr sz="1300">
                <a:solidFill>
                  <a:srgbClr val="93C5FD"/>
                </a:solidFill>
                <a:latin typeface="Calibri"/>
              </a:defRPr>
            </a:pPr>
            <a:r>
              <a:t>Team Leader  —  Architecture, Build &amp;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77639"/>
            <a:ext cx="4937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Jay Bhoi (12302080601042)</a:t>
            </a:r>
          </a:p>
          <a:p>
            <a:pPr>
              <a:defRPr sz="1300">
                <a:solidFill>
                  <a:srgbClr val="93C5FD"/>
                </a:solidFill>
                <a:latin typeface="Calibri"/>
              </a:defRPr>
            </a:pPr>
            <a:r>
              <a:t>Application Developer  —  Core Activities &amp;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4937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Kishan Prajapati (12302080601056)</a:t>
            </a:r>
          </a:p>
          <a:p>
            <a:pPr>
              <a:defRPr sz="1300">
                <a:solidFill>
                  <a:srgbClr val="93C5FD"/>
                </a:solidFill>
                <a:latin typeface="Calibri"/>
              </a:defRPr>
            </a:pPr>
            <a:r>
              <a:t>UI/UX &amp; Testing  —  Material 3 XML &amp; Test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983480"/>
            <a:ext cx="4937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Krish Varde (12302080601057)</a:t>
            </a:r>
          </a:p>
          <a:p>
            <a:pPr>
              <a:defRPr sz="1300">
                <a:solidFill>
                  <a:srgbClr val="93C5FD"/>
                </a:solidFill>
                <a:latin typeface="Calibri"/>
              </a:defRPr>
            </a:pPr>
            <a:r>
              <a:t>Database Developer  —  SQLite Schema &amp;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PROBLEM CONTEXT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Problems in Manual Hostel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B365D"/>
                </a:solidFill>
                <a:latin typeface="Calibri"/>
              </a:defRPr>
            </a:pPr>
            <a:r>
              <a:t>1. Lost Complaint Slips</a:t>
            </a:r>
          </a:p>
          <a:p>
            <a:pPr>
              <a:defRPr sz="1800">
                <a:solidFill>
                  <a:srgbClr val="1A202C"/>
                </a:solidFill>
                <a:latin typeface="Calibri"/>
              </a:defRPr>
            </a:pPr>
            <a:r>
              <a:t>Grievances recorded on paper registers frequently get misplaced with zero status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B365D"/>
                </a:solidFill>
                <a:latin typeface="Calibri"/>
              </a:defRPr>
            </a:pPr>
            <a:r>
              <a:t>2. Room Double-Booking</a:t>
            </a:r>
          </a:p>
          <a:p>
            <a:pPr>
              <a:defRPr sz="1800">
                <a:solidFill>
                  <a:srgbClr val="1A202C"/>
                </a:solidFill>
                <a:latin typeface="Calibri"/>
              </a:defRPr>
            </a:pPr>
            <a:r>
              <a:t>Manual bed allotment leads to record mismatches and accidental duplicate allocations.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B365D"/>
                </a:solidFill>
                <a:latin typeface="Calibri"/>
              </a:defRPr>
            </a:pPr>
            <a:r>
              <a:t>3. Scattered Fee Ledgers</a:t>
            </a:r>
          </a:p>
          <a:p>
            <a:pPr>
              <a:defRPr sz="1800">
                <a:solidFill>
                  <a:srgbClr val="1A202C"/>
                </a:solidFill>
                <a:latin typeface="Calibri"/>
              </a:defRPr>
            </a:pPr>
            <a:r>
              <a:t>Hostel and mess fees are tracked on physical registers, causing long verification queues.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PROJECT GOALS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Objectives &amp; Proposed Mobile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Core Objectives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Replace paper registers with an Android app.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Provide dual roles: Student &amp; Warden.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Prevent double-booking with atomic transactions.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100% offline-first with zero server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What the App Delivers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Live room view with roommate contacts.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Instant mock UPI fee payment simulation.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Maintenance complaint filing &amp; tracking.</a:t>
            </a:r>
          </a:p>
          <a:p>
            <a:pPr>
              <a:spcAft>
                <a:spcPts val="1600"/>
              </a:spcAft>
              <a:defRPr sz="1800">
                <a:solidFill>
                  <a:srgbClr val="1A202C"/>
                </a:solidFill>
                <a:latin typeface="Calibri"/>
              </a:defRPr>
            </a:pPr>
            <a:r>
              <a:t>• Live Warden KPI dashboard &amp; room inventory.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TECHNOLOGY STACK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Core Technologies &amp; Development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1B365D"/>
                </a:solidFill>
                <a:latin typeface="Calibri"/>
              </a:defRPr>
            </a:pPr>
            <a:r>
              <a:t>Java (OpenJDK 17)</a:t>
            </a:r>
          </a:p>
          <a:p>
            <a:pPr>
              <a:spcAft>
                <a:spcPts val="24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CORE LOGIC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Native Android code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OOP architecture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Clean exception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1B365D"/>
                </a:solidFill>
                <a:latin typeface="Calibri"/>
              </a:defRPr>
            </a:pPr>
            <a:r>
              <a:t>Android SDK &amp; M3</a:t>
            </a:r>
          </a:p>
          <a:p>
            <a:pPr>
              <a:spcAft>
                <a:spcPts val="24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UI FRAMEWORK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API 26 to API 34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Material Design 3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Responsive XML layouts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1B365D"/>
                </a:solidFill>
                <a:latin typeface="Calibri"/>
              </a:defRPr>
            </a:pPr>
            <a:r>
              <a:t>SQLite Database</a:t>
            </a:r>
          </a:p>
          <a:p>
            <a:pPr>
              <a:spcAft>
                <a:spcPts val="24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 STORAGE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Embedded local engine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ACID transactions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Zero server overhead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1B365D"/>
                </a:solidFill>
                <a:latin typeface="Calibri"/>
              </a:defRPr>
            </a:pPr>
            <a:r>
              <a:t>Tools &amp; Testing</a:t>
            </a:r>
          </a:p>
          <a:p>
            <a:pPr>
              <a:spcAft>
                <a:spcPts val="24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TOOLCHAIN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Android Studio &amp; Gradle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Physical OnePlus Phone</a:t>
            </a:r>
          </a:p>
          <a:p>
            <a:pPr>
              <a:spcAft>
                <a:spcPts val="1600"/>
              </a:spcAft>
              <a:defRPr sz="1650">
                <a:solidFill>
                  <a:srgbClr val="1A202C"/>
                </a:solidFill>
                <a:latin typeface="Calibri"/>
              </a:defRPr>
            </a:pPr>
            <a:r>
              <a:t>• ADB live log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ARCHITECTURE &amp; DESIGN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3-Tier Architecture &amp; 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05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3-Tier Architecture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1. Presentation Layer</a:t>
            </a:r>
          </a:p>
          <a:p>
            <a:pPr>
              <a:spcAft>
                <a:spcPts val="1400"/>
              </a:spcAft>
              <a:defRPr sz="1550">
                <a:solidFill>
                  <a:srgbClr val="1A202C"/>
                </a:solidFill>
                <a:latin typeface="Calibri"/>
              </a:defRPr>
            </a:pPr>
            <a:r>
              <a:t>Material 3 XML layouts, Activities &amp; Custom Adapters.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2. Business Logic Layer</a:t>
            </a:r>
          </a:p>
          <a:p>
            <a:pPr>
              <a:spcAft>
                <a:spcPts val="1400"/>
              </a:spcAft>
              <a:defRPr sz="1550">
                <a:solidFill>
                  <a:srgbClr val="1A202C"/>
                </a:solidFill>
                <a:latin typeface="Calibri"/>
              </a:defRPr>
            </a:pPr>
            <a:r>
              <a:t>Session management, input validation &amp; allocation rules.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3. Data Layer</a:t>
            </a:r>
          </a:p>
          <a:p>
            <a:pPr>
              <a:spcAft>
                <a:spcPts val="1400"/>
              </a:spcAft>
              <a:defRPr sz="1550">
                <a:solidFill>
                  <a:srgbClr val="1A202C"/>
                </a:solidFill>
                <a:latin typeface="Calibri"/>
              </a:defRPr>
            </a:pPr>
            <a:r>
              <a:t>SQLiteOpenHelper with atomic transaction 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Database Tables (SQLite)</a:t>
            </a:r>
          </a:p>
          <a:p>
            <a:pPr>
              <a:spcAft>
                <a:spcPts val="1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users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Login credentials, roles (Student / Admin), roll numbers</a:t>
            </a:r>
          </a:p>
          <a:p>
            <a:pPr>
              <a:spcAft>
                <a:spcPts val="1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rooms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Room number, block, floor, capacity, rent</a:t>
            </a:r>
          </a:p>
          <a:p>
            <a:pPr>
              <a:spcAft>
                <a:spcPts val="1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complaints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Category, title, urgency, status, remarks</a:t>
            </a:r>
          </a:p>
          <a:p>
            <a:pPr>
              <a:spcAft>
                <a:spcPts val="1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fee_records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Total fees, amount paid, balance,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STUDENT MODULE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Resident Portal: Features &amp; App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06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Resident Student Features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• Dashboard Summary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Instant view of room, fees, and open complaints.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• My Room &amp; Roommates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Displays room specs and roommate contact details.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• Digital Fee Ledger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Itemized fees with one-tap simulated UPI payment.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• Complaint Ticketing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Raise issues by category with real-time status.</a:t>
            </a:r>
          </a:p>
        </p:txBody>
      </p:sp>
      <p:pic>
        <p:nvPicPr>
          <p:cNvPr id="8" name="Picture 7" descr="screen_04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2194560" cy="4901184"/>
          </a:xfrm>
          <a:prstGeom prst="rect">
            <a:avLst/>
          </a:prstGeom>
        </p:spPr>
      </p:pic>
      <p:pic>
        <p:nvPicPr>
          <p:cNvPr id="9" name="Picture 8" descr="screen_05_student_my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463040"/>
            <a:ext cx="2194560" cy="4901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0" y="60807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365D"/>
                </a:solidFill>
                <a:latin typeface="Calibri"/>
              </a:defRPr>
            </a:pPr>
            <a:r>
              <a:t>Dashboard Screen   |   My Room &amp; Roommates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WARDEN MODULE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Administrative Portal: Features &amp; App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07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Warden Administration Controls</a:t>
            </a:r>
          </a:p>
          <a:p>
            <a:pPr>
              <a:spcAft>
                <a:spcPts val="2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Executive KPI Dashboard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Live counters for students, vacant beds &amp; complaints.</a:t>
            </a:r>
          </a:p>
          <a:p>
            <a:pPr>
              <a:spcAft>
                <a:spcPts val="2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Room Inventory Control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Add new rooms with AC/Non-AC, capacity &amp; rent.</a:t>
            </a:r>
          </a:p>
          <a:p>
            <a:pPr>
              <a:spcAft>
                <a:spcPts val="2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Resolve Complaints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Review issues by priority and resolve with remarks.</a:t>
            </a:r>
          </a:p>
          <a:p>
            <a:pPr>
              <a:spcAft>
                <a:spcPts val="200"/>
              </a:spcAft>
              <a:defRPr sz="1800" b="1">
                <a:solidFill>
                  <a:srgbClr val="166534"/>
                </a:solidFill>
                <a:latin typeface="Calibri"/>
              </a:defRPr>
            </a:pPr>
            <a:r>
              <a:t>• Student &amp; Fee Directory</a:t>
            </a:r>
          </a:p>
          <a:p>
            <a:pPr>
              <a:spcAft>
                <a:spcPts val="12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Audit resident profiles and fee payment status.</a:t>
            </a:r>
          </a:p>
        </p:txBody>
      </p:sp>
      <p:pic>
        <p:nvPicPr>
          <p:cNvPr id="8" name="Picture 7" descr="screen_09_admin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2194560" cy="4901184"/>
          </a:xfrm>
          <a:prstGeom prst="rect">
            <a:avLst/>
          </a:prstGeom>
        </p:spPr>
      </p:pic>
      <p:pic>
        <p:nvPicPr>
          <p:cNvPr id="9" name="Picture 8" descr="screen_10_admin_compla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463040"/>
            <a:ext cx="2194560" cy="4901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0" y="60807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365D"/>
                </a:solidFill>
                <a:latin typeface="Calibri"/>
              </a:defRPr>
            </a:pPr>
            <a:r>
              <a:t>Room Inventory Screen   |   Resolve Complaint Modal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TECHNICAL HIGHLIGHTS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Engineering Features in Hostel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1. Atomic Room Allocation (Zero Overbooking)</a:t>
            </a:r>
          </a:p>
          <a:p>
            <a:pPr>
              <a:defRPr sz="1650">
                <a:solidFill>
                  <a:srgbClr val="1A202C"/>
                </a:solidFill>
                <a:latin typeface="Calibri"/>
              </a:defRPr>
            </a:pPr>
            <a:r>
              <a:t>SQLite transactions ensure a room is never allocated past its capacity, preventing double-booking.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2. Session Management &amp; Auto-Login</a:t>
            </a:r>
          </a:p>
          <a:p>
            <a:pPr>
              <a:defRPr sz="1650">
                <a:solidFill>
                  <a:srgbClr val="1A202C"/>
                </a:solidFill>
                <a:latin typeface="Calibri"/>
              </a:defRPr>
            </a:pPr>
            <a:r>
              <a:t>Encrypted SharedPreferences remembers user role and ID, keeping the user logged in until explicit logout.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3. Smart Back Navigation &amp; Exit Safety</a:t>
            </a:r>
          </a:p>
          <a:p>
            <a:pPr>
              <a:defRPr sz="1650">
                <a:solidFill>
                  <a:srgbClr val="1A202C"/>
                </a:solidFill>
                <a:latin typeface="Calibri"/>
              </a:defRPr>
            </a:pPr>
            <a:r>
              <a:t>AndroidX back dispatcher routes to the Home tab first, followed by an exit confirmation dialog.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LIVE DEMONSTRATION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 We Will Demonstrate Live in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09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365D"/>
                </a:solidFill>
                <a:latin typeface="Calibri"/>
              </a:defRPr>
            </a:pPr>
            <a:r>
              <a:t>Step 1: 1-Tap Login</a:t>
            </a:r>
          </a:p>
          <a:p>
            <a:pPr>
              <a:defRPr sz="1800">
                <a:solidFill>
                  <a:srgbClr val="1A202C"/>
                </a:solidFill>
                <a:latin typeface="Calibri"/>
              </a:defRPr>
            </a:pPr>
            <a:r>
              <a:t>Select Student or Warden role with quick demo fill.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365D"/>
                </a:solidFill>
                <a:latin typeface="Calibri"/>
              </a:defRPr>
            </a:pPr>
            <a:r>
              <a:t>Step 2: Room &amp; Roommates</a:t>
            </a:r>
          </a:p>
          <a:p>
            <a:pPr>
              <a:defRPr sz="1800">
                <a:solidFill>
                  <a:srgbClr val="1A202C"/>
                </a:solidFill>
                <a:latin typeface="Calibri"/>
              </a:defRPr>
            </a:pPr>
            <a:r>
              <a:t>View allocated bed and real-time roommate directory.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365D"/>
                </a:solidFill>
                <a:latin typeface="Calibri"/>
              </a:defRPr>
            </a:pPr>
            <a:r>
              <a:t>Step 3: Pay Fees via UPI</a:t>
            </a:r>
          </a:p>
          <a:p>
            <a:pPr>
              <a:defRPr sz="1800">
                <a:solidFill>
                  <a:srgbClr val="1A202C"/>
                </a:solidFill>
                <a:latin typeface="Calibri"/>
              </a:defRPr>
            </a:pPr>
            <a:r>
              <a:t>Simulate UPI fee payment and see balance clear to Rs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365D"/>
                </a:solidFill>
                <a:latin typeface="Calibri"/>
              </a:defRPr>
            </a:pPr>
            <a:r>
              <a:t>Step 4: File &amp; Resolve Ticket</a:t>
            </a:r>
          </a:p>
          <a:p>
            <a:pPr>
              <a:defRPr sz="1800">
                <a:solidFill>
                  <a:srgbClr val="1A202C"/>
                </a:solidFill>
                <a:latin typeface="Calibri"/>
              </a:defRPr>
            </a:pPr>
            <a:r>
              <a:t>Student raises complaint; Warden updates status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TESTING &amp; QA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Black-Box Testing Execution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777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6534"/>
                </a:solidFill>
                <a:latin typeface="Calibri"/>
              </a:defRPr>
            </a:pPr>
            <a:r>
              <a:t>18 / 18 Test Cases Passed (100% Success Rate) on Android 14 Phone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377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248095"/>
                <a:gridCol w="1554480"/>
              </a:tblGrid>
              <a:tr h="6553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Feature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 System Behavior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User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Validates input; rejects duplicate roll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Role-Based 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Directs correctly to Student or Warden portal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Room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Blocks allocation when room capacity is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UPI Fee Payment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Clears balance to Rs 0 and updates status to PAID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Complaint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Warden remarks reflect live on student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TEAM CONTRIBUTIONS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Individual Responsibilities (Team of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Calibri"/>
              </a:defRPr>
            </a:pPr>
            <a:r>
              <a:t>Jay Chaudhary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Team Leader  |  12302080601041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A202C"/>
                </a:solidFill>
                <a:latin typeface="Calibri"/>
              </a:defRPr>
            </a:pPr>
            <a:r>
              <a:t>Project planning, overall architecture design, Gradle build setup, and physical ADB device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Calibri"/>
              </a:defRPr>
            </a:pPr>
            <a:r>
              <a:t>Jay Bhoi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Application Developer  |  12302080601042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62072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A202C"/>
                </a:solidFill>
                <a:latin typeface="Calibri"/>
              </a:defRPr>
            </a:pPr>
            <a:r>
              <a:t>Core application logic, Activity workflows (Splash, Login, Register, Main), and back navigation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Calibri"/>
              </a:defRPr>
            </a:pPr>
            <a:r>
              <a:t>Kishan Prajapati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UI/UX &amp; Tester  |  12302080601056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96512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A202C"/>
                </a:solidFill>
                <a:latin typeface="Calibri"/>
              </a:defRPr>
            </a:pPr>
            <a:r>
              <a:t>Authoring 14 Material Design 3 XML layouts, custom drawables, and executing the black-box test suite.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Calibri"/>
              </a:defRPr>
            </a:pPr>
            <a:r>
              <a:t>Krish Varde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Database Developer  |  12302080601057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30952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A202C"/>
                </a:solidFill>
                <a:latin typeface="Calibri"/>
              </a:defRPr>
            </a:pPr>
            <a:r>
              <a:t>3NF normalized SQLite database schema, atomic room allocation transactions, and live XAMPP DB viewer.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CHALLENGES &amp; SOLUTIONS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Technical Challenges Faced &amp; How We 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B365D"/>
                </a:solidFill>
                <a:latin typeface="Calibri"/>
              </a:defRPr>
            </a:pPr>
            <a:r>
              <a:t>1. Room Overbooking on Fast Clicks</a:t>
            </a:r>
          </a:p>
          <a:p>
            <a:pPr>
              <a:spcAft>
                <a:spcPts val="200"/>
              </a:spcAft>
              <a:defRPr sz="1550">
                <a:solidFill>
                  <a:srgbClr val="B91C1C"/>
                </a:solidFill>
                <a:latin typeface="Calibri"/>
              </a:defRPr>
            </a:pPr>
            <a:r>
              <a:t>Challenge: Rapid clicks could assign more students than a room's bed capacity.</a:t>
            </a:r>
          </a:p>
          <a:p>
            <a:pPr>
              <a:defRPr sz="1550" b="1">
                <a:solidFill>
                  <a:srgbClr val="166534"/>
                </a:solidFill>
                <a:latin typeface="Calibri"/>
              </a:defRPr>
            </a:pPr>
            <a:r>
              <a:t>Solution: Locked allocations inside SQLite transactions with precondition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B365D"/>
                </a:solidFill>
                <a:latin typeface="Calibri"/>
              </a:defRPr>
            </a:pPr>
            <a:r>
              <a:t>2. Accidental App Closure</a:t>
            </a:r>
          </a:p>
          <a:p>
            <a:pPr>
              <a:spcAft>
                <a:spcPts val="200"/>
              </a:spcAft>
              <a:defRPr sz="1550">
                <a:solidFill>
                  <a:srgbClr val="B91C1C"/>
                </a:solidFill>
                <a:latin typeface="Calibri"/>
              </a:defRPr>
            </a:pPr>
            <a:r>
              <a:t>Challenge: Pressing the hardware back button while on inner tabs exited the app.</a:t>
            </a:r>
          </a:p>
          <a:p>
            <a:pPr>
              <a:defRPr sz="1550" b="1">
                <a:solidFill>
                  <a:srgbClr val="166534"/>
                </a:solidFill>
                <a:latin typeface="Calibri"/>
              </a:defRPr>
            </a:pPr>
            <a:r>
              <a:t>Solution: Handled back presses with AndroidX dispatcher to return Home before exit dialog.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B365D"/>
                </a:solidFill>
                <a:latin typeface="Calibri"/>
              </a:defRPr>
            </a:pPr>
            <a:r>
              <a:t>3. Viewing SQLite on Physical Phone</a:t>
            </a:r>
          </a:p>
          <a:p>
            <a:pPr>
              <a:spcAft>
                <a:spcPts val="200"/>
              </a:spcAft>
              <a:defRPr sz="1550">
                <a:solidFill>
                  <a:srgbClr val="B91C1C"/>
                </a:solidFill>
                <a:latin typeface="Calibri"/>
              </a:defRPr>
            </a:pPr>
            <a:r>
              <a:t>Challenge: Android 14 prevents direct PC access to internal phone databases.</a:t>
            </a:r>
          </a:p>
          <a:p>
            <a:pPr>
              <a:defRPr sz="1550" b="1">
                <a:solidFill>
                  <a:srgbClr val="166534"/>
                </a:solidFill>
                <a:latin typeface="Calibri"/>
              </a:defRPr>
            </a:pPr>
            <a:r>
              <a:t>Solution: Built a lightweight batch script + PHP bridge to inspect database in browser.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BEAFE"/>
                </a:solidFill>
                <a:latin typeface="Calibri"/>
              </a:defRPr>
            </a:pPr>
            <a:r>
              <a:t>FUTURE SCOPE &amp; CONCLUSION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Project Scalability &amp; Concluding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20040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DBEAFE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Future Scope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Cloud Sync: Centralize data via Firebase / MySQL.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Push Notifications: Instant alerts on complaint updates.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Payment Gateway: Live UPI integration via Razorpay.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QR Attendance: QR code scanning for night curfew.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t>Project Conclusion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Fully working native Android mobile application.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Eliminates paper registers and record errors.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100% offline-first with zero server costs.</a:t>
            </a:r>
          </a:p>
          <a:p>
            <a:pPr>
              <a:spcAft>
                <a:spcPts val="1600"/>
              </a:spcAft>
              <a:defRPr sz="1750">
                <a:solidFill>
                  <a:srgbClr val="1A202C"/>
                </a:solidFill>
                <a:latin typeface="Calibri"/>
              </a:defRPr>
            </a:pPr>
            <a:r>
              <a:t>• Verified on Android 14 physical hardware.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93C5FD"/>
                </a:solidFill>
                <a:latin typeface="Calibri"/>
              </a:defRPr>
            </a:pPr>
            <a:r>
              <a:t>Hostel Manager — Mobile Application Development Mini Project</a:t>
            </a:r>
          </a:p>
          <a:p>
            <a:pPr algn="ctr">
              <a:defRPr sz="1800">
                <a:solidFill>
                  <a:srgbClr val="E2E8F0"/>
                </a:solidFill>
                <a:latin typeface="Calibri"/>
              </a:defRPr>
            </a:pPr>
            <a:r>
              <a:t>Questions &amp; Live Demonstration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474720"/>
            <a:ext cx="8534095" cy="731520"/>
          </a:xfrm>
          <a:prstGeom prst="roundRect">
            <a:avLst/>
          </a:prstGeom>
          <a:solidFill>
            <a:srgbClr val="172A4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11880"/>
            <a:ext cx="81683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DE047"/>
                </a:solidFill>
                <a:latin typeface="Calibri"/>
              </a:defRPr>
            </a:pPr>
            <a:r>
              <a:t>Native Android (Java)  •  SQLite Engine  •  Material Design 3  •  100% Tested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389120"/>
            <a:ext cx="9448495" cy="1920240"/>
          </a:xfrm>
          <a:prstGeom prst="roundRect">
            <a:avLst/>
          </a:prstGeom>
          <a:solidFill>
            <a:srgbClr val="12233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26280"/>
            <a:ext cx="88998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BEAFE"/>
                </a:solidFill>
                <a:latin typeface="Calibri"/>
              </a:defRPr>
            </a:pPr>
            <a:r>
              <a:t>Team Members:</a:t>
            </a:r>
          </a:p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Jay Chaudhary (12302080601041)   |   Jay Bhoi (12302080601042)</a:t>
            </a:r>
          </a:p>
          <a:p>
            <a:pPr algn="ctr"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Kishan Prajapati (12302080601056)   |   Krish Varde (12302080601057)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Department of Information Technology, A. D. Patel Institute of Technology (ADIT)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